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ter"/>
      <p:bold r:id="rId18"/>
    </p:embeddedFont>
    <p:embeddedFont>
      <p:font typeface="Plus Jakarta Sans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4581525"/>
            <a:ext cx="3403550" cy="1704975"/>
          </a:xfrm>
          <a:prstGeom prst="roundRect">
            <a:avLst>
              <a:gd name="adj" fmla="val 8938"/>
            </a:avLst>
          </a:prstGeom>
          <a:solidFill>
            <a:srgbClr val="232B3D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94150" y="4581525"/>
            <a:ext cx="3403550" cy="1704975"/>
          </a:xfrm>
          <a:prstGeom prst="roundRect">
            <a:avLst>
              <a:gd name="adj" fmla="val 8938"/>
            </a:avLst>
          </a:prstGeom>
          <a:solidFill>
            <a:srgbClr val="232B3D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Galgotias University</a:t>
            </a:r>
          </a:p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026300" y="4581525"/>
            <a:ext cx="3403550" cy="1704975"/>
          </a:xfrm>
          <a:prstGeom prst="roundRect">
            <a:avLst>
              <a:gd name="adj" fmla="val 8938"/>
            </a:avLst>
          </a:prstGeom>
          <a:solidFill>
            <a:srgbClr val="232B3D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571500"/>
            <a:ext cx="1952625" cy="295275"/>
          </a:xfrm>
          <a:prstGeom prst="roundRect">
            <a:avLst>
              <a:gd name="adj" fmla="val 50000"/>
            </a:avLst>
          </a:prstGeom>
          <a:solidFill>
            <a:srgbClr val="1A2D58"/>
          </a:solidFill>
          <a:ln w="9525">
            <a:solidFill>
              <a:srgbClr val="2D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652462"/>
            <a:ext cx="171450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1019175"/>
            <a:ext cx="11251406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Online E-Commerce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741140"/>
            <a:ext cx="8929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Inter"/>
              </a:rPr>
              <a:t>A Full-Stack Web Solution Built with Servlets, JSP, JDBC, and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28650"/>
            <a:ext cx="1533525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60A5FA"/>
                </a:solidFill>
                <a:latin typeface="Inter"/>
              </a:rPr>
              <a:t>Java Web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819650"/>
            <a:ext cx="36591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Inter"/>
              </a:rPr>
              <a:t>PRESENTER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5019675"/>
            <a:ext cx="3022550" cy="784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FFFFF"/>
                </a:solidFill>
                <a:latin typeface="Inter"/>
              </a:rPr>
              <a:t>Kautilya</a:t>
            </a:r>
            <a:r>
              <a:rPr lang="en-US" sz="1500" b="1" i="0" u="none" dirty="0">
                <a:solidFill>
                  <a:srgbClr val="FFFFFF"/>
                </a:solidFill>
                <a:latin typeface="Inter"/>
              </a:rPr>
              <a:t>     ----     25SCSE1180001</a:t>
            </a:r>
            <a:r>
              <a:rPr dirty="0"/>
              <a:t>
</a:t>
            </a:r>
            <a:r>
              <a:rPr lang="en-US" dirty="0"/>
              <a:t> </a:t>
            </a:r>
            <a:r>
              <a:rPr lang="en-US" sz="1500" b="1" dirty="0">
                <a:solidFill>
                  <a:srgbClr val="FFFFFF"/>
                </a:solidFill>
                <a:latin typeface="Inter"/>
              </a:rPr>
              <a:t>Jeetu </a:t>
            </a:r>
            <a:r>
              <a:rPr sz="1500" b="1" i="0" u="none" dirty="0">
                <a:solidFill>
                  <a:srgbClr val="FFFFFF"/>
                </a:solidFill>
                <a:latin typeface="Inter"/>
              </a:rPr>
              <a:t> Sharma</a:t>
            </a:r>
            <a:r>
              <a:rPr lang="en-US" sz="1500" b="1" i="0" u="none" dirty="0">
                <a:solidFill>
                  <a:srgbClr val="FFFFFF"/>
                </a:solidFill>
                <a:latin typeface="Inter"/>
              </a:rPr>
              <a:t> --- 25SCSE1410064</a:t>
            </a:r>
          </a:p>
          <a:p>
            <a:pPr algn="l"/>
            <a:r>
              <a:rPr lang="en-IN" sz="1500" b="1" dirty="0">
                <a:solidFill>
                  <a:srgbClr val="FFFFFF"/>
                </a:solidFill>
                <a:latin typeface="Inter"/>
              </a:rPr>
              <a:t>Lalit Kumar ----  25SCSE1410125</a:t>
            </a:r>
            <a:endParaRPr sz="1500" b="1" i="0" u="none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32275" y="4819650"/>
            <a:ext cx="36591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Inter"/>
              </a:rPr>
              <a:t>COLLEGE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425" y="4819650"/>
            <a:ext cx="36591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Inter"/>
              </a:rPr>
              <a:t>BRANCH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425" y="5019675"/>
            <a:ext cx="130106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Inter"/>
              </a:rPr>
              <a:t>B Tech CSE AIML</a:t>
            </a:r>
            <a:endParaRPr sz="1500" b="1" i="0" u="none" dirty="0">
              <a:solidFill>
                <a:srgbClr val="FFFFF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80070"/>
            <a:ext cx="5334000" cy="5120729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280070"/>
            <a:ext cx="5334000" cy="5120729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39127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280070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1280070"/>
            <a:ext cx="57150" cy="5120729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34075" y="1280070"/>
            <a:ext cx="9525" cy="512072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48400" y="639127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48400" y="1280070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48400" y="1280070"/>
            <a:ext cx="57150" cy="512072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72875" y="1280070"/>
            <a:ext cx="9525" cy="512072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2783085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50" y="2783085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" y="2897385"/>
            <a:ext cx="22860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450" y="2897385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PROJECT MOTIVATION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Problem Statement &amp; 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6850" y="2873573"/>
            <a:ext cx="282535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Problem Statement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50" y="3392685"/>
            <a:ext cx="4905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Digital Commerce Shift: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Traditional brick-and-mortar retail lacks 24/7 global reach.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50" y="3945135"/>
            <a:ext cx="4905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Manual Overhead: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Inventory tracking and manual order processing lead to high error rates.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350" y="4497585"/>
            <a:ext cx="4905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Vendor Management: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Fragmented interaction between admins, sellers, and buyers.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5650" y="2873573"/>
            <a:ext cx="22002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Key 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150" y="3392685"/>
            <a:ext cx="4905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Web Portal: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Develop a responsive e-commerce platform using Java MVC.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4150" y="3945135"/>
            <a:ext cx="4905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Multi-Role Auth: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Role-based access control for Users, Sellers, and Admins.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4150" y="4497585"/>
            <a:ext cx="4905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Seamless Checkout: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Dynamic cart management and real-time inventory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63960"/>
            <a:ext cx="2600325" cy="1581150"/>
          </a:xfrm>
          <a:prstGeom prst="roundRect">
            <a:avLst>
              <a:gd name="adj" fmla="val 96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163960"/>
            <a:ext cx="2600325" cy="1581150"/>
          </a:xfrm>
          <a:prstGeom prst="roundRect">
            <a:avLst>
              <a:gd name="adj" fmla="val 96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163960"/>
            <a:ext cx="2600325" cy="1581150"/>
          </a:xfrm>
          <a:prstGeom prst="roundRect">
            <a:avLst>
              <a:gd name="adj" fmla="val 96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163960"/>
            <a:ext cx="2600325" cy="1581150"/>
          </a:xfrm>
          <a:prstGeom prst="roundRect">
            <a:avLst>
              <a:gd name="adj" fmla="val 96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3935610"/>
            <a:ext cx="2600325" cy="1581150"/>
          </a:xfrm>
          <a:prstGeom prst="roundRect">
            <a:avLst>
              <a:gd name="adj" fmla="val 96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00425" y="3935610"/>
            <a:ext cx="2600325" cy="1581150"/>
          </a:xfrm>
          <a:prstGeom prst="roundRect">
            <a:avLst>
              <a:gd name="adj" fmla="val 96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91250" y="3935610"/>
            <a:ext cx="2600325" cy="1581150"/>
          </a:xfrm>
          <a:prstGeom prst="roundRect">
            <a:avLst>
              <a:gd name="adj" fmla="val 96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82075" y="3935610"/>
            <a:ext cx="2600325" cy="1581150"/>
          </a:xfrm>
          <a:prstGeom prst="roundRect">
            <a:avLst>
              <a:gd name="adj" fmla="val 96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402085"/>
            <a:ext cx="2124075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2402085"/>
            <a:ext cx="2124075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2402085"/>
            <a:ext cx="2124075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2402085"/>
            <a:ext cx="2124075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4173735"/>
            <a:ext cx="2124075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8550" y="4173735"/>
            <a:ext cx="2124075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4173735"/>
            <a:ext cx="2124075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0200" y="4173735"/>
            <a:ext cx="2124075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TECH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Technologies 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2802135"/>
            <a:ext cx="27878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Java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3125985"/>
            <a:ext cx="22193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Core backend business logic engine.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8550" y="2802135"/>
            <a:ext cx="27878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JSP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8550" y="3125985"/>
            <a:ext cx="22193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Dynamic view rendering templates.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9375" y="2802135"/>
            <a:ext cx="27878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Servlets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9375" y="3125985"/>
            <a:ext cx="22193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HTTP request handling controller.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0200" y="2802135"/>
            <a:ext cx="27878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JDBC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0200" y="3125985"/>
            <a:ext cx="22193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Database connectivity abstraction layer.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4573785"/>
            <a:ext cx="27878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MySQL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4897635"/>
            <a:ext cx="22193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Relational data storage solution.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8550" y="4573785"/>
            <a:ext cx="27878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Apache Tomcat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8550" y="4897635"/>
            <a:ext cx="22193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Web application server container.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9375" y="4573785"/>
            <a:ext cx="27878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Maven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9375" y="4897635"/>
            <a:ext cx="22193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Dependency build automation tool.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0200" y="4573785"/>
            <a:ext cx="278784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Bootstrap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0200" y="4897635"/>
            <a:ext cx="22193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Responsive frontend framework.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173735"/>
            <a:ext cx="10972800" cy="800100"/>
          </a:xfrm>
          <a:prstGeom prst="roundRect">
            <a:avLst>
              <a:gd name="adj" fmla="val 1904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06885"/>
            <a:ext cx="1535162" cy="1162050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09600" y="3859410"/>
            <a:ext cx="15351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706885"/>
            <a:ext cx="1535162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706885"/>
            <a:ext cx="9525" cy="1162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35237" y="2706885"/>
            <a:ext cx="9525" cy="1162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97187" y="2706885"/>
            <a:ext cx="1535162" cy="1162050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97187" y="3859410"/>
            <a:ext cx="15351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97187" y="2706885"/>
            <a:ext cx="1535162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97187" y="2706885"/>
            <a:ext cx="9525" cy="1162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022824" y="2706885"/>
            <a:ext cx="9525" cy="1162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84774" y="2706885"/>
            <a:ext cx="1535162" cy="1162050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4774" y="3859410"/>
            <a:ext cx="15351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4774" y="2706885"/>
            <a:ext cx="1535162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4774" y="2706885"/>
            <a:ext cx="9525" cy="1162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10411" y="2706885"/>
            <a:ext cx="9525" cy="1162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72361" y="2706885"/>
            <a:ext cx="1535162" cy="1162050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381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72361" y="3859410"/>
            <a:ext cx="15351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72361" y="2706885"/>
            <a:ext cx="1535162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72361" y="2706885"/>
            <a:ext cx="9525" cy="1162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97998" y="2706885"/>
            <a:ext cx="9525" cy="1162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159948" y="2706885"/>
            <a:ext cx="1535162" cy="1162050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59948" y="3859410"/>
            <a:ext cx="15351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59948" y="2706885"/>
            <a:ext cx="1535162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59948" y="2706885"/>
            <a:ext cx="9525" cy="1162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85585" y="2706885"/>
            <a:ext cx="9525" cy="1162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047535" y="2706885"/>
            <a:ext cx="1535162" cy="1162050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047535" y="3859410"/>
            <a:ext cx="15351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047535" y="2706885"/>
            <a:ext cx="1535162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047535" y="2706885"/>
            <a:ext cx="9525" cy="1162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573172" y="2706885"/>
            <a:ext cx="9525" cy="1162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062" y="3192660"/>
            <a:ext cx="123825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649" y="3192660"/>
            <a:ext cx="123825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236" y="3192660"/>
            <a:ext cx="123825" cy="1905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1823" y="3192660"/>
            <a:ext cx="123825" cy="1905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410" y="3192660"/>
            <a:ext cx="123825" cy="1905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440435"/>
            <a:ext cx="266700" cy="2667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756" y="2935485"/>
            <a:ext cx="266700" cy="2667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4681" y="2935485"/>
            <a:ext cx="200025" cy="2667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5593" y="2935485"/>
            <a:ext cx="333375" cy="2667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7467" y="2935485"/>
            <a:ext cx="304800" cy="2667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7442" y="2935485"/>
            <a:ext cx="200025" cy="2667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95979" y="2935485"/>
            <a:ext cx="238125" cy="2667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SYSTEM DESIGN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MVC Architecture Flow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619" y="2754681"/>
            <a:ext cx="152563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050" b="1" i="0" u="none" dirty="0">
                <a:solidFill>
                  <a:srgbClr val="64748B"/>
                </a:solidFill>
                <a:latin typeface="Inter"/>
              </a:rPr>
              <a:t>Client Request</a:t>
            </a:r>
            <a:endParaRPr sz="1050" b="1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516025" y="2754510"/>
            <a:ext cx="1537952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64748B"/>
                </a:solidFill>
                <a:latin typeface="Inter"/>
              </a:rPr>
              <a:t>UI Rendering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3378" y="2754510"/>
            <a:ext cx="1537952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64748B"/>
                </a:solidFill>
                <a:latin typeface="Inter"/>
              </a:rPr>
              <a:t>Controller Logic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81674" y="2754510"/>
            <a:ext cx="1537952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64748B"/>
                </a:solidFill>
                <a:latin typeface="Inter"/>
              </a:rPr>
              <a:t>Data Access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9261" y="2763950"/>
            <a:ext cx="1537952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Driver Bridge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6763" y="2763950"/>
            <a:ext cx="1537952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64748B"/>
                </a:solidFill>
                <a:latin typeface="Inter"/>
              </a:rPr>
              <a:t>Database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28725" y="4373760"/>
            <a:ext cx="10248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Inter"/>
              </a:rPr>
              <a:t>Model-View-Controller Separation:</a:t>
            </a:r>
            <a:r>
              <a:rPr sz="1350" b="0" i="0" u="none">
                <a:solidFill>
                  <a:srgbClr val="1E3A8A"/>
                </a:solidFill>
                <a:latin typeface="Inter"/>
              </a:rPr>
              <a:t> Servlets process business logic, JSP handles presentation markup, and DAO objects manage SQL operations via JDBC.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1228" y="3278385"/>
            <a:ext cx="149190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Browser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18815" y="3278385"/>
            <a:ext cx="149190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JSP View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06402" y="3278385"/>
            <a:ext cx="149190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Servlet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3989" y="3278385"/>
            <a:ext cx="149190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DAO Layer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81576" y="3278385"/>
            <a:ext cx="149190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JDBC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69163" y="3278385"/>
            <a:ext cx="149190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MySQL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538341" y="1280070"/>
            <a:ext cx="6044058" cy="5120729"/>
          </a:xfrm>
          <a:prstGeom prst="roundRect">
            <a:avLst>
              <a:gd name="adj" fmla="val 2976"/>
            </a:avLst>
          </a:prstGeom>
          <a:solidFill>
            <a:srgbClr val="F1F5F9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992510"/>
            <a:ext cx="4623941" cy="6477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754510"/>
            <a:ext cx="4623941" cy="6477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516510"/>
            <a:ext cx="4623941" cy="6477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278510"/>
            <a:ext cx="4623941" cy="6477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5040510"/>
            <a:ext cx="4623941" cy="6477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7896" y="3378398"/>
            <a:ext cx="3048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221110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983110"/>
            <a:ext cx="2381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745110"/>
            <a:ext cx="2190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4507110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5269110"/>
            <a:ext cx="21907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Database Schema &amp; Tables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2717" y="3835598"/>
            <a:ext cx="31551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475569"/>
                </a:solidFill>
                <a:latin typeface="Inter"/>
              </a:rPr>
              <a:t>&lt;&lt; Insert Database Screenshot &gt;&gt;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4124" y="4140398"/>
            <a:ext cx="35123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0F172A"/>
                </a:solidFill>
                <a:latin typeface="Inter"/>
              </a:rPr>
              <a:t>Paste MySQL Workbench / ER-Diagram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1100" y="2135385"/>
            <a:ext cx="29503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Admins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1100" y="2335410"/>
            <a:ext cx="2809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Credentials &amp; platform control rights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1100" y="2897385"/>
            <a:ext cx="26503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1100" y="3097410"/>
            <a:ext cx="25241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Buyer profiles, auth &amp; addresses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2050" y="3659385"/>
            <a:ext cx="338792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Sellers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2050" y="3859410"/>
            <a:ext cx="32265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Merchant store profiles &amp; approval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4425" y="4421385"/>
            <a:ext cx="30253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Products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4425" y="4621410"/>
            <a:ext cx="28813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Item details, pricing, stock &amp; seller 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2050" y="5183385"/>
            <a:ext cx="328791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Cart &amp; Cart_Items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2050" y="5383410"/>
            <a:ext cx="31313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User active session sessions &amp; line items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C756A8F-3B58-4A4E-9E33-65DC56BDB1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8341" y="1275233"/>
            <a:ext cx="6139309" cy="51207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25873"/>
            <a:ext cx="4849117" cy="1000125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40298"/>
            <a:ext cx="4849117" cy="1000125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454723"/>
            <a:ext cx="4849117" cy="1000125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63517" y="1280070"/>
            <a:ext cx="2833241" cy="2484090"/>
          </a:xfrm>
          <a:prstGeom prst="roundRect">
            <a:avLst>
              <a:gd name="adj" fmla="val 6135"/>
            </a:avLst>
          </a:prstGeom>
          <a:solidFill>
            <a:srgbClr val="F1F5F9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749158" y="1280070"/>
            <a:ext cx="2833241" cy="2484090"/>
          </a:xfrm>
          <a:prstGeom prst="roundRect">
            <a:avLst>
              <a:gd name="adj" fmla="val 6135"/>
            </a:avLst>
          </a:prstGeom>
          <a:solidFill>
            <a:srgbClr val="F1F5F9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63517" y="3916560"/>
            <a:ext cx="2833241" cy="2484239"/>
          </a:xfrm>
          <a:prstGeom prst="roundRect">
            <a:avLst>
              <a:gd name="adj" fmla="val 6134"/>
            </a:avLst>
          </a:prstGeom>
          <a:solidFill>
            <a:srgbClr val="F1F5F9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749158" y="3916560"/>
            <a:ext cx="2833241" cy="2484239"/>
          </a:xfrm>
          <a:prstGeom prst="roundRect">
            <a:avLst>
              <a:gd name="adj" fmla="val 6134"/>
            </a:avLst>
          </a:prstGeom>
          <a:solidFill>
            <a:srgbClr val="F1F5F9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614" y="2131516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0442" y="2131516"/>
            <a:ext cx="390525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8614" y="4768155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0442" y="4849117"/>
            <a:ext cx="3905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2425898"/>
            <a:ext cx="219075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3540323"/>
            <a:ext cx="219075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75" y="4654748"/>
            <a:ext cx="219075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MODULE BREAKDOWN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User Module &amp;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" y="2406848"/>
            <a:ext cx="5889407" cy="200025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Inter"/>
              </a:rPr>
              <a:t>Authentication &amp;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75" y="2664023"/>
            <a:ext cx="458241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User Registration, Secure Login, Profile Management, and Logout.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" y="3521273"/>
            <a:ext cx="5889407" cy="200025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Inter"/>
              </a:rPr>
              <a:t>Product Browsing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575" y="3778448"/>
            <a:ext cx="458241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Interactive Home Page and Product Details with images &amp; pricing.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575" y="4635698"/>
            <a:ext cx="5889407" cy="200025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Inter"/>
              </a:rPr>
              <a:t>Cart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575" y="4892873"/>
            <a:ext cx="458241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Dynamic Add-to-Cart and Quantity Adjustments in Shopping Cart.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8925" y="2588716"/>
            <a:ext cx="292242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75569"/>
                </a:solidFill>
                <a:latin typeface="Inter"/>
              </a:rPr>
              <a:t>&lt;&lt; Insert User Login Screenshot &gt;&gt;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4566" y="2588716"/>
            <a:ext cx="292242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75569"/>
                </a:solidFill>
                <a:latin typeface="Inter"/>
              </a:rPr>
              <a:t>&lt;&lt; Insert Home Page Screenshot &gt;&gt;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8925" y="5225355"/>
            <a:ext cx="292242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75569"/>
                </a:solidFill>
                <a:latin typeface="Inter"/>
              </a:rPr>
              <a:t>&lt;&lt; Insert Product Details Screenshot &gt;&gt;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5080" y="5306317"/>
            <a:ext cx="2381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75569"/>
                </a:solidFill>
                <a:latin typeface="Inter"/>
              </a:rPr>
              <a:t>&lt;&lt; Insert Cart Screenshot &gt;&gt;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A0AB90A-72EC-41C1-81CE-5F25055313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6524" y="193551"/>
            <a:ext cx="6454026" cy="36658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830102E-1E79-4578-83FA-71071DCE96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99416" y="3840360"/>
            <a:ext cx="6592584" cy="28319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54485"/>
            <a:ext cx="4849117" cy="781050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449835"/>
            <a:ext cx="4849117" cy="781050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345185"/>
            <a:ext cx="4849117" cy="781050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63517" y="1280070"/>
            <a:ext cx="2833241" cy="2565052"/>
          </a:xfrm>
          <a:prstGeom prst="roundRect">
            <a:avLst>
              <a:gd name="adj" fmla="val 5941"/>
            </a:avLst>
          </a:prstGeom>
          <a:solidFill>
            <a:srgbClr val="F1F5F9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749158" y="1280070"/>
            <a:ext cx="2833241" cy="2565052"/>
          </a:xfrm>
          <a:prstGeom prst="roundRect">
            <a:avLst>
              <a:gd name="adj" fmla="val 5941"/>
            </a:avLst>
          </a:prstGeom>
          <a:solidFill>
            <a:srgbClr val="F1F5F9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63517" y="3997523"/>
            <a:ext cx="5818882" cy="2403276"/>
          </a:xfrm>
          <a:prstGeom prst="roundRect">
            <a:avLst>
              <a:gd name="adj" fmla="val 6341"/>
            </a:avLst>
          </a:prstGeom>
          <a:solidFill>
            <a:srgbClr val="F1F5F9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830710"/>
            <a:ext cx="2571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726060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621410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8614" y="2171997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8067" y="2171997"/>
            <a:ext cx="29527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696" y="4889599"/>
            <a:ext cx="390525" cy="342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MODULE BREAKDOWN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Seller Module &amp; Inventory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8925" y="2629197"/>
            <a:ext cx="292242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75569"/>
                </a:solidFill>
                <a:latin typeface="Inter"/>
              </a:rPr>
              <a:t>&lt;&lt; Insert Dashboard Screenshot &gt;&gt;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4566" y="2629197"/>
            <a:ext cx="292242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75569"/>
                </a:solidFill>
                <a:latin typeface="Inter"/>
              </a:rPr>
              <a:t>&lt;&lt; Insert Add Product Screenshot &gt;&gt;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1099" y="5346799"/>
            <a:ext cx="308371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75569"/>
                </a:solidFill>
                <a:latin typeface="Inter"/>
              </a:rPr>
              <a:t>&lt;&lt; Insert My Products Screenshot &gt;&gt;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2754510"/>
            <a:ext cx="30503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Seller Onboarding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2954535"/>
            <a:ext cx="2905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Registration and Login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0625" y="3649860"/>
            <a:ext cx="331291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Seller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0625" y="3849885"/>
            <a:ext cx="31551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Overview of listed items &amp; sales stats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0625" y="4545210"/>
            <a:ext cx="3500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Product Catalog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0625" y="4745235"/>
            <a:ext cx="3333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Add new items, view inventory &amp; logout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1A2B217-D3BE-44AB-A25F-EEA2A0ACE8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8925" y="220290"/>
            <a:ext cx="6428483" cy="365995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7548683-5571-438D-BE5E-88DFE410DB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6996" y="3961208"/>
            <a:ext cx="6428483" cy="26006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35385"/>
            <a:ext cx="4849117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259335"/>
            <a:ext cx="4849117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383285"/>
            <a:ext cx="4849117" cy="1162050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63517" y="1280070"/>
            <a:ext cx="5818882" cy="2484239"/>
          </a:xfrm>
          <a:prstGeom prst="roundRect">
            <a:avLst>
              <a:gd name="adj" fmla="val 6134"/>
            </a:avLst>
          </a:prstGeom>
          <a:solidFill>
            <a:srgbClr val="F1F5F9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763517" y="3916709"/>
            <a:ext cx="5818882" cy="2484239"/>
          </a:xfrm>
          <a:prstGeom prst="roundRect">
            <a:avLst>
              <a:gd name="adj" fmla="val 6134"/>
            </a:avLst>
          </a:prstGeom>
          <a:solidFill>
            <a:srgbClr val="F1F5F9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097410"/>
            <a:ext cx="4849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135385"/>
            <a:ext cx="4849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2135385"/>
            <a:ext cx="57150" cy="9715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49192" y="2135385"/>
            <a:ext cx="9525" cy="971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4221360"/>
            <a:ext cx="4849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3259335"/>
            <a:ext cx="4849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600" y="3259335"/>
            <a:ext cx="57150" cy="971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49192" y="3259335"/>
            <a:ext cx="9525" cy="971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600" y="5535810"/>
            <a:ext cx="4849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600" y="4383285"/>
            <a:ext cx="4849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4383285"/>
            <a:ext cx="57150" cy="11620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49192" y="4383285"/>
            <a:ext cx="9525" cy="1162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646" y="2198340"/>
            <a:ext cx="428625" cy="3429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558" y="4834979"/>
            <a:ext cx="304800" cy="342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2392560"/>
            <a:ext cx="19050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3516510"/>
            <a:ext cx="19050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4640460"/>
            <a:ext cx="238125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MODULE BREAKDOWN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Admin Control Panel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350" y="2373510"/>
            <a:ext cx="5676881" cy="228600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C2626"/>
                </a:solidFill>
                <a:latin typeface="Inter"/>
              </a:rPr>
              <a:t>Admin Authentication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350" y="2678310"/>
            <a:ext cx="54065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Secure access gateway reserved for system administrators.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350" y="3497460"/>
            <a:ext cx="5676881" cy="228600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Inter"/>
              </a:rPr>
              <a:t>Central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350" y="3802260"/>
            <a:ext cx="54065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Monitor active users, total products, and system analytics.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350" y="4621410"/>
            <a:ext cx="5676881" cy="228600"/>
          </a:xfrm>
          <a:prstGeom prst="rect">
            <a:avLst/>
          </a:prstGeom>
          <a:noFill/>
        </p:spPr>
        <p:txBody>
          <a:bodyPr wrap="none" lIns="31432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6A34A"/>
                </a:solidFill>
                <a:latin typeface="Inter"/>
              </a:rPr>
              <a:t>Seller Approvals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350" y="4926210"/>
            <a:ext cx="4420492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Review pending seller registrations to approve or restrict platform access.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2474" y="2655540"/>
            <a:ext cx="39409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475569"/>
                </a:solidFill>
                <a:latin typeface="Inter"/>
              </a:rPr>
              <a:t>&lt;&lt; Insert Admin Dashboard Screenshot &gt;&gt;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396" y="5292179"/>
            <a:ext cx="36671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475569"/>
                </a:solidFill>
                <a:latin typeface="Inter"/>
              </a:rPr>
              <a:t>&lt;&lt; Insert Seller Approval Screenshot &gt;&gt;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9DFF10A-52C3-4453-8978-A87CA37006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7316" y="571500"/>
            <a:ext cx="6504683" cy="323076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BA75CC5-AF2F-4FD1-A40C-E87A51C29F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3517" y="3954660"/>
            <a:ext cx="6428502" cy="25607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68735"/>
            <a:ext cx="3530500" cy="1476375"/>
          </a:xfrm>
          <a:prstGeom prst="roundRect">
            <a:avLst>
              <a:gd name="adj" fmla="val 103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600" y="2268735"/>
            <a:ext cx="3530649" cy="1476375"/>
          </a:xfrm>
          <a:prstGeom prst="roundRect">
            <a:avLst>
              <a:gd name="adj" fmla="val 103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750" y="2268735"/>
            <a:ext cx="3530500" cy="1476375"/>
          </a:xfrm>
          <a:prstGeom prst="roundRect">
            <a:avLst>
              <a:gd name="adj" fmla="val 103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935610"/>
            <a:ext cx="3530500" cy="1476375"/>
          </a:xfrm>
          <a:prstGeom prst="roundRect">
            <a:avLst>
              <a:gd name="adj" fmla="val 103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30600" y="3935610"/>
            <a:ext cx="3530649" cy="1476375"/>
          </a:xfrm>
          <a:prstGeom prst="roundRect">
            <a:avLst>
              <a:gd name="adj" fmla="val 103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51750" y="3935610"/>
            <a:ext cx="3530500" cy="1476375"/>
          </a:xfrm>
          <a:prstGeom prst="roundRect">
            <a:avLst>
              <a:gd name="adj" fmla="val 103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506860"/>
            <a:ext cx="3048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725" y="2506860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875" y="2506860"/>
            <a:ext cx="333375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173735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9875" y="4173735"/>
            <a:ext cx="2667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DEVELOPMENT HURDLES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Challenges Faced &amp; Resolutions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887860"/>
            <a:ext cx="400870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JDBC Connection Pool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145035"/>
            <a:ext cx="3149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Managing DB connection leaks resolved via Singleton Connection Utility.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8725" y="2887860"/>
            <a:ext cx="40088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Tomcat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8725" y="3145035"/>
            <a:ext cx="31496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Configuring server context paths and Maven dependencies.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9875" y="2887860"/>
            <a:ext cx="39021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Session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9875" y="3145035"/>
            <a:ext cx="3149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Handling HTTPSession objects across multi-page user flows.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4554735"/>
            <a:ext cx="400870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Servlet Mapping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4811910"/>
            <a:ext cx="3149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Structuring clean web.xml / annotations URL patterns.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8725" y="4364235"/>
            <a:ext cx="40088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Cart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8725" y="4621410"/>
            <a:ext cx="31496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Synchronizing guest session cart items with database tables.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9875" y="4554735"/>
            <a:ext cx="39021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Login &amp; Logout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9875" y="4811910"/>
            <a:ext cx="3149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Preventing browser cache access after user logout.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92435"/>
            <a:ext cx="10972800" cy="857250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02085"/>
            <a:ext cx="10972800" cy="857250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411735"/>
            <a:ext cx="10972800" cy="857250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421385"/>
            <a:ext cx="10972800" cy="857250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5431035"/>
            <a:ext cx="10972800" cy="857250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159246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60211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611760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621410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5631060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637" y="1706760"/>
            <a:ext cx="25717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50" y="2716410"/>
            <a:ext cx="28575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925" y="3726060"/>
            <a:ext cx="22860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637" y="4735710"/>
            <a:ext cx="25717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925" y="5745360"/>
            <a:ext cx="22860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Future Scope &amp; Enhancements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7325" y="1611510"/>
            <a:ext cx="565070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Online Payment Gateway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7325" y="1840110"/>
            <a:ext cx="5381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Integrating Stripe / Razorpay for seamless digital payments.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7325" y="2621160"/>
            <a:ext cx="623827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Advanced Order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7325" y="2849760"/>
            <a:ext cx="594121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Real-time order status tracking and automated invoice generation.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57325" y="3630810"/>
            <a:ext cx="59507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Product Search &amp; Category Filters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57325" y="3859410"/>
            <a:ext cx="56673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Dynamic keyword search with category and price range filters.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7325" y="4640460"/>
            <a:ext cx="577572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Reviews &amp; Ratings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7325" y="4869060"/>
            <a:ext cx="5500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Allowing verified buyers to post ratings and product reviews.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57325" y="5650110"/>
            <a:ext cx="593824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Automated Email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57325" y="5878710"/>
            <a:ext cx="56554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Sending registration confirmation and order receipts via SMTP.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95425" y="2030610"/>
            <a:ext cx="9201150" cy="2247900"/>
          </a:xfrm>
          <a:prstGeom prst="roundRect">
            <a:avLst>
              <a:gd name="adj" fmla="val 6779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507110"/>
            <a:ext cx="3530649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4507110"/>
            <a:ext cx="3530649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4507110"/>
            <a:ext cx="3530649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344935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296" y="2954535"/>
            <a:ext cx="11251406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E3A8A"/>
                </a:solidFill>
                <a:latin typeface="Inter"/>
              </a:rPr>
              <a:t>Project Success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187" y="3392685"/>
            <a:ext cx="107156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1E40AF"/>
                </a:solidFill>
                <a:latin typeface="Inter"/>
              </a:rPr>
              <a:t>The project successfully demonstrates an enterprise-ready Java Web Development stack utilizing </a:t>
            </a:r>
            <a:r>
              <a:rPr sz="1500" b="1" i="0" u="none">
                <a:solidFill>
                  <a:srgbClr val="1E40AF"/>
                </a:solidFill>
                <a:latin typeface="Inter"/>
              </a:rPr>
              <a:t>JSP</a:t>
            </a:r>
            <a:r>
              <a:rPr sz="1500" b="0" i="0" u="none">
                <a:solidFill>
                  <a:srgbClr val="1E40AF"/>
                </a:solidFill>
                <a:latin typeface="Inter"/>
              </a:rPr>
              <a:t>, </a:t>
            </a:r>
            <a:r>
              <a:rPr sz="1500" b="1" i="0" u="none">
                <a:solidFill>
                  <a:srgbClr val="1E40AF"/>
                </a:solidFill>
                <a:latin typeface="Inter"/>
              </a:rPr>
              <a:t>Servlets</a:t>
            </a:r>
            <a:r>
              <a:rPr sz="1500" b="0" i="0" u="none">
                <a:solidFill>
                  <a:srgbClr val="1E40AF"/>
                </a:solidFill>
                <a:latin typeface="Inter"/>
              </a:rPr>
              <a:t>, </a:t>
            </a:r>
            <a:r>
              <a:rPr sz="1500" b="1" i="0" u="none">
                <a:solidFill>
                  <a:srgbClr val="1E40AF"/>
                </a:solidFill>
                <a:latin typeface="Inter"/>
              </a:rPr>
              <a:t>JDBC</a:t>
            </a:r>
            <a:r>
              <a:rPr sz="1500" b="0" i="0" u="none">
                <a:solidFill>
                  <a:srgbClr val="1E40AF"/>
                </a:solidFill>
                <a:latin typeface="Inter"/>
              </a:rPr>
              <a:t>, and </a:t>
            </a:r>
            <a:r>
              <a:rPr sz="1500" b="1" i="0" u="none">
                <a:solidFill>
                  <a:srgbClr val="1E40AF"/>
                </a:solidFill>
                <a:latin typeface="Inter"/>
              </a:rPr>
              <a:t>MySQL</a:t>
            </a:r>
            <a:r>
              <a:rPr sz="1500" b="0" i="0" u="none">
                <a:solidFill>
                  <a:srgbClr val="1E40AF"/>
                </a:solidFill>
                <a:latin typeface="Inter"/>
              </a:rPr>
              <a:t> under the </a:t>
            </a:r>
            <a:r>
              <a:rPr sz="1500" b="1" i="0" u="none">
                <a:solidFill>
                  <a:srgbClr val="1E40AF"/>
                </a:solidFill>
                <a:latin typeface="Inter"/>
              </a:rPr>
              <a:t>MVC Architecture</a:t>
            </a:r>
            <a:r>
              <a:rPr sz="1500" b="0" i="0" u="none">
                <a:solidFill>
                  <a:srgbClr val="1E40AF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475" y="4745235"/>
            <a:ext cx="400889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Modular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925" y="5030985"/>
            <a:ext cx="381799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Strict separation of View, Controller, and DAO Model layers.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1624" y="4745235"/>
            <a:ext cx="400889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Role-Based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074" y="5030985"/>
            <a:ext cx="381799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Dedicated modules for Buyers, Sellers, and Platform Admins.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2774" y="4745235"/>
            <a:ext cx="400889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Extensible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8224" y="5030985"/>
            <a:ext cx="381799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Prepared for payment integrations and cloud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95712" y="4410075"/>
            <a:ext cx="2743200" cy="361950"/>
          </a:xfrm>
          <a:prstGeom prst="roundRect">
            <a:avLst>
              <a:gd name="adj" fmla="val 50000"/>
            </a:avLst>
          </a:prstGeom>
          <a:solidFill>
            <a:srgbClr val="2A3243"/>
          </a:solidFill>
          <a:ln w="9525">
            <a:solidFill>
              <a:srgbClr val="3A4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91312" y="4410075"/>
            <a:ext cx="1704975" cy="361950"/>
          </a:xfrm>
          <a:prstGeom prst="roundRect">
            <a:avLst>
              <a:gd name="adj" fmla="val 50000"/>
            </a:avLst>
          </a:prstGeom>
          <a:solidFill>
            <a:srgbClr val="2A3243"/>
          </a:solidFill>
          <a:ln w="9525">
            <a:solidFill>
              <a:srgbClr val="3A4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85975"/>
            <a:ext cx="762000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687" y="2295525"/>
            <a:ext cx="428625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6687" y="4514850"/>
            <a:ext cx="1905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2287" y="4514850"/>
            <a:ext cx="1143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20765" y="3076575"/>
            <a:ext cx="3750468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4406" y="3857625"/>
            <a:ext cx="26431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94A3B8"/>
                </a:solidFill>
                <a:latin typeface="Inter"/>
              </a:rPr>
              <a:t>Questions &amp;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0962" y="4486275"/>
            <a:ext cx="28194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CBD5E1"/>
                </a:solidFill>
                <a:latin typeface="Inter"/>
              </a:rPr>
              <a:t>Online E-Commerce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140" y="4486275"/>
            <a:ext cx="1597818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CBD5E1"/>
                </a:solidFill>
                <a:latin typeface="Inter"/>
              </a:rPr>
              <a:t> Java Web 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683</Words>
  <Application>Microsoft Office PowerPoint</Application>
  <PresentationFormat>Widescreen</PresentationFormat>
  <Paragraphs>140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Plus Jakarta Sans</vt:lpstr>
      <vt:lpstr>Inter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Kautilya Pandey</cp:lastModifiedBy>
  <cp:revision>2</cp:revision>
  <dcterms:created xsi:type="dcterms:W3CDTF">2013-01-27T09:14:16Z</dcterms:created>
  <dcterms:modified xsi:type="dcterms:W3CDTF">2026-10-08T14:38:18Z</dcterms:modified>
  <cp:category/>
</cp:coreProperties>
</file>